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6" r:id="rId5"/>
    <p:sldId id="259" r:id="rId6"/>
    <p:sldId id="260" r:id="rId7"/>
    <p:sldId id="261" r:id="rId8"/>
    <p:sldId id="267" r:id="rId9"/>
    <p:sldId id="262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4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4.bin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5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2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9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18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3.wmf"/><Relationship Id="rId1" Type="http://schemas.openxmlformats.org/officeDocument/2006/relationships/oleObject" Target="../embeddings/oleObject22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773045" y="1181735"/>
          <a:ext cx="6393180" cy="102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270000" imgH="203200" progId="Equation.KSEE3">
                  <p:embed/>
                </p:oleObj>
              </mc:Choice>
              <mc:Fallback>
                <p:oleObj name="" r:id="rId1" imgW="12700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3045" y="1181735"/>
                        <a:ext cx="6393180" cy="1022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38810"/>
            <a:ext cx="8780780" cy="736600"/>
          </a:xfrm>
        </p:spPr>
        <p:txBody>
          <a:bodyPr>
            <a:normAutofit fontScale="90000"/>
          </a:bodyPr>
          <a:p>
            <a:r>
              <a:rPr lang="zh-CN" altLang="en-US"/>
              <a:t>问题</a:t>
            </a:r>
            <a:r>
              <a:rPr lang="zh-CN" altLang="en-US"/>
              <a:t>描述：</a:t>
            </a:r>
            <a:endParaRPr lang="zh-CN" altLang="en-US"/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06500" y="1868805"/>
          <a:ext cx="917956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3238500" imgH="914400" progId="Equation.KSEE3">
                  <p:embed/>
                </p:oleObj>
              </mc:Choice>
              <mc:Fallback>
                <p:oleObj name="" r:id="rId1" imgW="3238500" imgH="9144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06500" y="1868805"/>
                        <a:ext cx="9179560" cy="259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截图202406120912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" y="202565"/>
            <a:ext cx="11640185" cy="6524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94080" y="1605915"/>
          <a:ext cx="10751820" cy="226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610"/>
                <a:gridCol w="1256030"/>
                <a:gridCol w="1256030"/>
                <a:gridCol w="1256030"/>
                <a:gridCol w="1256030"/>
                <a:gridCol w="1256030"/>
                <a:gridCol w="1256030"/>
                <a:gridCol w="1256030"/>
              </a:tblGrid>
              <a:tr h="715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i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1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2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3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4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5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6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7</a:t>
                      </a:r>
                      <a:endParaRPr lang="en-US" altLang="zh-CN" sz="3200"/>
                    </a:p>
                  </a:txBody>
                  <a:tcPr/>
                </a:tc>
              </a:tr>
              <a:tr h="715645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产量上限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800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800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1000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2000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2000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2000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3000</a:t>
                      </a:r>
                      <a:endParaRPr lang="zh-CN" altLang="en-US" sz="3200"/>
                    </a:p>
                  </a:txBody>
                  <a:tcPr/>
                </a:tc>
              </a:tr>
              <a:tr h="715645"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出厂价格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160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155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155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160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155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150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3200"/>
                        <a:t>160</a:t>
                      </a:r>
                      <a:endParaRPr lang="zh-CN" altLang="en-US" sz="32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92020" y="4390390"/>
          <a:ext cx="815594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2705100" imgH="203200" progId="Equation.KSEE3">
                  <p:embed/>
                </p:oleObj>
              </mc:Choice>
              <mc:Fallback>
                <p:oleObj name="" r:id="rId2" imgW="27051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92020" y="4390390"/>
                        <a:ext cx="8155940" cy="612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075180" y="1386840"/>
          <a:ext cx="6633210" cy="1429385"/>
        </p:xfrm>
        <a:graphic>
          <a:graphicData uri="http://schemas.openxmlformats.org/drawingml/2006/table">
            <a:tbl>
              <a:tblPr/>
              <a:tblGrid>
                <a:gridCol w="1104265"/>
                <a:gridCol w="1106805"/>
                <a:gridCol w="1104900"/>
                <a:gridCol w="1106170"/>
                <a:gridCol w="1104265"/>
                <a:gridCol w="1106805"/>
              </a:tblGrid>
              <a:tr h="7893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里程(km)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≤300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301～350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351～400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401～450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451～500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0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运价(万元)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26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29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2051050" y="3429000"/>
          <a:ext cx="6633845" cy="1477645"/>
        </p:xfrm>
        <a:graphic>
          <a:graphicData uri="http://schemas.openxmlformats.org/drawingml/2006/table">
            <a:tbl>
              <a:tblPr/>
              <a:tblGrid>
                <a:gridCol w="1104900"/>
                <a:gridCol w="1106805"/>
                <a:gridCol w="1104265"/>
                <a:gridCol w="1106170"/>
                <a:gridCol w="1104900"/>
                <a:gridCol w="1106805"/>
              </a:tblGrid>
              <a:tr h="8223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里程(km)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501～600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601～700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701～800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801～900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901～1000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3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运价(万元)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37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44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55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72460" y="519113"/>
          <a:ext cx="417004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3" imgW="1459865" imgH="203200" progId="Equation.KSEE3">
                  <p:embed/>
                </p:oleObj>
              </mc:Choice>
              <mc:Fallback>
                <p:oleObj name="" r:id="rId3" imgW="1459865" imgH="2032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2460" y="519113"/>
                        <a:ext cx="4170045" cy="58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027045" y="5320030"/>
            <a:ext cx="4864735" cy="668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1km主管道钢管称为1单位钢管。</a:t>
            </a:r>
            <a:endParaRPr lang="zh-C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44395" y="1097280"/>
          <a:ext cx="492442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1892300" imgH="431800" progId="Equation.KSEE3">
                  <p:embed/>
                </p:oleObj>
              </mc:Choice>
              <mc:Fallback>
                <p:oleObj name="" r:id="rId1" imgW="1892300" imgH="4318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44395" y="1097280"/>
                        <a:ext cx="4924425" cy="1123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1959610" y="2876550"/>
            <a:ext cx="7513955" cy="197167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/>
            <a:r>
              <a:rPr lang="en-US" altLang="zh-CN" sz="3200" b="0">
                <a:ea typeface="宋体" panose="02010600030101010101" pitchFamily="2" charset="-122"/>
              </a:rPr>
              <a:t>      </a:t>
            </a:r>
            <a:r>
              <a:rPr lang="zh-CN" sz="3200" b="0">
                <a:ea typeface="宋体" panose="02010600030101010101" pitchFamily="2" charset="-122"/>
              </a:rPr>
              <a:t>公路运输费用为1单位钢管每公里</a:t>
            </a:r>
            <a:r>
              <a:rPr lang="en-US" sz="3200" b="0">
                <a:latin typeface="宋体" panose="02010600030101010101" pitchFamily="2" charset="-122"/>
              </a:rPr>
              <a:t>0.1</a:t>
            </a:r>
            <a:r>
              <a:rPr lang="zh-CN" sz="3200" b="0">
                <a:ea typeface="宋体" panose="02010600030101010101" pitchFamily="2" charset="-122"/>
              </a:rPr>
              <a:t>万元（不足整公里部分按整公里计算）。</a:t>
            </a:r>
            <a:endParaRPr lang="zh-CN" altLang="en-US" sz="3200" b="0"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88210" y="4295775"/>
            <a:ext cx="7285355" cy="11296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zh-CN" sz="3200" b="0">
                <a:ea typeface="宋体" panose="02010600030101010101" pitchFamily="2" charset="-122"/>
              </a:rPr>
              <a:t>一个钢厂如果承担制造这种钢管，至少需要生产</a:t>
            </a:r>
            <a:r>
              <a:rPr lang="en-US" sz="3200" b="0">
                <a:latin typeface="Times New Roman" panose="02020603050405020304" charset="0"/>
                <a:ea typeface="宋体" panose="02010600030101010101" pitchFamily="2" charset="-122"/>
              </a:rPr>
              <a:t>500</a:t>
            </a:r>
            <a:r>
              <a:rPr lang="zh-CN" sz="3200" b="0">
                <a:ea typeface="宋体" panose="02010600030101010101" pitchFamily="2" charset="-122"/>
              </a:rPr>
              <a:t>个单位。（订购</a:t>
            </a:r>
            <a:r>
              <a:rPr lang="zh-CN" sz="3200" b="0">
                <a:ea typeface="宋体" panose="02010600030101010101" pitchFamily="2" charset="-122"/>
              </a:rPr>
              <a:t>下限）</a:t>
            </a:r>
            <a:endParaRPr lang="en-US" altLang="zh-CN" sz="32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1918970" y="1598930"/>
            <a:ext cx="7388225" cy="19646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266700"/>
            <a:r>
              <a:rPr lang="en-US" altLang="zh-CN" sz="3600" b="0">
                <a:ea typeface="宋体" panose="02010600030101010101" pitchFamily="2" charset="-122"/>
              </a:rPr>
              <a:t>      </a:t>
            </a:r>
            <a:r>
              <a:rPr lang="zh-CN" sz="3600" b="0">
                <a:ea typeface="宋体" panose="02010600030101010101" pitchFamily="2" charset="-122"/>
              </a:rPr>
              <a:t>问题：请制定一个主管道钢管的订购和运输计划，使总费用最小</a:t>
            </a:r>
            <a:r>
              <a:rPr lang="en-US" altLang="zh-CN" sz="3600" b="0">
                <a:ea typeface="宋体" panose="02010600030101010101" pitchFamily="2" charset="-122"/>
              </a:rPr>
              <a:t>(</a:t>
            </a:r>
            <a:r>
              <a:rPr lang="zh-CN" sz="3600" b="0">
                <a:ea typeface="宋体" panose="02010600030101010101" pitchFamily="2" charset="-122"/>
              </a:rPr>
              <a:t>给出总费用)。</a:t>
            </a:r>
            <a:endParaRPr lang="zh-CN" altLang="en-US" sz="36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截图202406120912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" y="202565"/>
            <a:ext cx="11640185" cy="6524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482465" y="77470"/>
          <a:ext cx="4995545" cy="6284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2273300" imgH="2971800" progId="Equation.KSEE3">
                  <p:embed/>
                </p:oleObj>
              </mc:Choice>
              <mc:Fallback>
                <p:oleObj name="" r:id="rId1" imgW="2273300" imgH="297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82465" y="77470"/>
                        <a:ext cx="4995545" cy="6284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1655" y="1136650"/>
          <a:ext cx="3937000" cy="567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409700" imgH="203200" progId="Equation.KSEE3">
                  <p:embed/>
                </p:oleObj>
              </mc:Choice>
              <mc:Fallback>
                <p:oleObj name="" r:id="rId3" imgW="1409700" imgH="2032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1655" y="1136650"/>
                        <a:ext cx="3937000" cy="567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34335" y="731520"/>
          <a:ext cx="5666105" cy="483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2578100" imgH="2286000" progId="Equation.KSEE3">
                  <p:embed/>
                </p:oleObj>
              </mc:Choice>
              <mc:Fallback>
                <p:oleObj name="" r:id="rId1" imgW="2578100" imgH="22860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34335" y="731520"/>
                        <a:ext cx="5666105" cy="4835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10915" y="1822450"/>
          <a:ext cx="4768850" cy="1351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612900" imgH="457200" progId="Equation.KSEE3">
                  <p:embed/>
                </p:oleObj>
              </mc:Choice>
              <mc:Fallback>
                <p:oleObj name="" r:id="rId1" imgW="1612900" imgH="457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10915" y="1822450"/>
                        <a:ext cx="4768850" cy="1351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01128" y="1013460"/>
          <a:ext cx="9389745" cy="273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3403600" imgH="990600" progId="Equation.KSEE3">
                  <p:embed/>
                </p:oleObj>
              </mc:Choice>
              <mc:Fallback>
                <p:oleObj name="" r:id="rId1" imgW="3403600" imgH="9906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01128" y="1013460"/>
                        <a:ext cx="9389745" cy="2733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9020" y="912495"/>
          <a:ext cx="9236075" cy="645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2908300" imgH="203200" progId="Equation.KSEE3">
                  <p:embed/>
                </p:oleObj>
              </mc:Choice>
              <mc:Fallback>
                <p:oleObj name="" r:id="rId1" imgW="2908300" imgH="2032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9020" y="912495"/>
                        <a:ext cx="9236075" cy="645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9020" y="2108200"/>
          <a:ext cx="6810375" cy="2357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r:id="rId3" imgW="1981200" imgH="685800" progId="Equation.KSEE3">
                  <p:embed/>
                </p:oleObj>
              </mc:Choice>
              <mc:Fallback>
                <p:oleObj name="" r:id="rId3" imgW="1981200" imgH="685800" progId="Equation.KSEE3">
                  <p:embed/>
                  <p:pic>
                    <p:nvPicPr>
                      <p:cNvPr id="0" name="图片 30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9020" y="2108200"/>
                        <a:ext cx="6810375" cy="2357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46910" y="915035"/>
          <a:ext cx="7780020" cy="1186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r:id="rId1" imgW="2997200" imgH="457200" progId="Equation.KSEE3">
                  <p:embed/>
                </p:oleObj>
              </mc:Choice>
              <mc:Fallback>
                <p:oleObj name="" r:id="rId1" imgW="2997200" imgH="457200" progId="Equation.KSEE3">
                  <p:embed/>
                  <p:pic>
                    <p:nvPicPr>
                      <p:cNvPr id="0" name="图片 4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46910" y="915035"/>
                        <a:ext cx="7780020" cy="1186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90420" y="2799080"/>
          <a:ext cx="590994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" r:id="rId3" imgW="2286000" imgH="482600" progId="Equation.KSEE3">
                  <p:embed/>
                </p:oleObj>
              </mc:Choice>
              <mc:Fallback>
                <p:oleObj name="" r:id="rId3" imgW="2286000" imgH="482600" progId="Equation.KSEE3">
                  <p:embed/>
                  <p:pic>
                    <p:nvPicPr>
                      <p:cNvPr id="0" name="图片 4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90420" y="2799080"/>
                        <a:ext cx="5909945" cy="1247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48255" y="1400175"/>
          <a:ext cx="6470650" cy="1176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r:id="rId1" imgW="2654300" imgH="482600" progId="Equation.KSEE3">
                  <p:embed/>
                </p:oleObj>
              </mc:Choice>
              <mc:Fallback>
                <p:oleObj name="" r:id="rId1" imgW="2654300" imgH="482600" progId="Equation.KSEE3">
                  <p:embed/>
                  <p:pic>
                    <p:nvPicPr>
                      <p:cNvPr id="0" name="图片 5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48255" y="1400175"/>
                        <a:ext cx="6470650" cy="1176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38630" y="3023235"/>
          <a:ext cx="2112645" cy="1703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" r:id="rId3" imgW="850900" imgH="685800" progId="Equation.KSEE3">
                  <p:embed/>
                </p:oleObj>
              </mc:Choice>
              <mc:Fallback>
                <p:oleObj name="" r:id="rId3" imgW="850900" imgH="685800" progId="Equation.KSEE3">
                  <p:embed/>
                  <p:pic>
                    <p:nvPicPr>
                      <p:cNvPr id="0" name="图片 5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38630" y="3023235"/>
                        <a:ext cx="2112645" cy="1703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65650" y="3023235"/>
          <a:ext cx="4568825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" r:id="rId5" imgW="1917065" imgH="685800" progId="Equation.KSEE3">
                  <p:embed/>
                </p:oleObj>
              </mc:Choice>
              <mc:Fallback>
                <p:oleObj name="" r:id="rId5" imgW="1917065" imgH="685800" progId="Equation.KSEE3">
                  <p:embed/>
                  <p:pic>
                    <p:nvPicPr>
                      <p:cNvPr id="0" name="图片 51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65650" y="3023235"/>
                        <a:ext cx="4568825" cy="163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88540" y="868680"/>
          <a:ext cx="5730240" cy="1712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" r:id="rId1" imgW="2209800" imgH="660400" progId="Equation.KSEE3">
                  <p:embed/>
                </p:oleObj>
              </mc:Choice>
              <mc:Fallback>
                <p:oleObj name="" r:id="rId1" imgW="2209800" imgH="660400" progId="Equation.KSEE3">
                  <p:embed/>
                  <p:pic>
                    <p:nvPicPr>
                      <p:cNvPr id="0" name="图片 61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8540" y="868680"/>
                        <a:ext cx="5730240" cy="1712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2555875" y="3806825"/>
            <a:ext cx="38074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83025" y="4242435"/>
          <a:ext cx="1005205" cy="503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" r:id="rId3" imgW="405765" imgH="203200" progId="Equation.KSEE3">
                  <p:embed/>
                </p:oleObj>
              </mc:Choice>
              <mc:Fallback>
                <p:oleObj name="" r:id="rId3" imgW="405765" imgH="203200" progId="Equation.KSEE3">
                  <p:embed/>
                  <p:pic>
                    <p:nvPicPr>
                      <p:cNvPr id="0" name="图片 61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3025" y="4242435"/>
                        <a:ext cx="1005205" cy="503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流程图: 联系 7"/>
          <p:cNvSpPr/>
          <p:nvPr/>
        </p:nvSpPr>
        <p:spPr>
          <a:xfrm>
            <a:off x="3712210" y="3703320"/>
            <a:ext cx="97790" cy="103505"/>
          </a:xfrm>
          <a:prstGeom prst="flowChart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流程图: 联系 8"/>
          <p:cNvSpPr/>
          <p:nvPr/>
        </p:nvSpPr>
        <p:spPr>
          <a:xfrm>
            <a:off x="5104765" y="3703320"/>
            <a:ext cx="97790" cy="103505"/>
          </a:xfrm>
          <a:prstGeom prst="flowChartConnector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49475" y="3366135"/>
          <a:ext cx="406400" cy="440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" r:id="rId5" imgW="152400" imgH="165100" progId="Equation.KSEE3">
                  <p:embed/>
                </p:oleObj>
              </mc:Choice>
              <mc:Fallback>
                <p:oleObj name="" r:id="rId5" imgW="152400" imgH="165100" progId="Equation.KSEE3">
                  <p:embed/>
                  <p:pic>
                    <p:nvPicPr>
                      <p:cNvPr id="0" name="图片 614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49475" y="3366135"/>
                        <a:ext cx="406400" cy="440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63335" y="3511550"/>
          <a:ext cx="382270" cy="414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" r:id="rId7" imgW="152400" imgH="165100" progId="Equation.KSEE3">
                  <p:embed/>
                </p:oleObj>
              </mc:Choice>
              <mc:Fallback>
                <p:oleObj name="" r:id="rId7" imgW="152400" imgH="165100" progId="Equation.KSEE3">
                  <p:embed/>
                  <p:pic>
                    <p:nvPicPr>
                      <p:cNvPr id="0" name="图片 61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63335" y="3511550"/>
                        <a:ext cx="382270" cy="414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7430" y="354013"/>
          <a:ext cx="5993130" cy="5567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" r:id="rId1" imgW="2501900" imgH="2324100" progId="Equation.KSEE3">
                  <p:embed/>
                </p:oleObj>
              </mc:Choice>
              <mc:Fallback>
                <p:oleObj name="" r:id="rId1" imgW="2501900" imgH="2324100" progId="Equation.KSEE3">
                  <p:embed/>
                  <p:pic>
                    <p:nvPicPr>
                      <p:cNvPr id="0" name="图片 7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27430" y="354013"/>
                        <a:ext cx="5993130" cy="5567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87210" y="4832350"/>
          <a:ext cx="4871085" cy="1089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" r:id="rId3" imgW="1930400" imgH="431800" progId="Equation.KSEE3">
                  <p:embed/>
                </p:oleObj>
              </mc:Choice>
              <mc:Fallback>
                <p:oleObj name="" r:id="rId3" imgW="1930400" imgH="431800" progId="Equation.KSEE3">
                  <p:embed/>
                  <p:pic>
                    <p:nvPicPr>
                      <p:cNvPr id="0" name="图片 716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87210" y="4832350"/>
                        <a:ext cx="4871085" cy="1089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11580" y="608965"/>
          <a:ext cx="9408160" cy="927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" r:id="rId1" imgW="4508500" imgH="444500" progId="Equation.KSEE3">
                  <p:embed/>
                </p:oleObj>
              </mc:Choice>
              <mc:Fallback>
                <p:oleObj name="" r:id="rId1" imgW="4508500" imgH="444500" progId="Equation.KSEE3">
                  <p:embed/>
                  <p:pic>
                    <p:nvPicPr>
                      <p:cNvPr id="0" name="图片 81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1580" y="608965"/>
                        <a:ext cx="9408160" cy="927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15123" y="1878330"/>
          <a:ext cx="5340350" cy="3970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" r:id="rId3" imgW="2527300" imgH="1879600" progId="Equation.KSEE3">
                  <p:embed/>
                </p:oleObj>
              </mc:Choice>
              <mc:Fallback>
                <p:oleObj name="" r:id="rId3" imgW="2527300" imgH="1879600" progId="Equation.KSEE3">
                  <p:embed/>
                  <p:pic>
                    <p:nvPicPr>
                      <p:cNvPr id="0" name="图片 81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5123" y="1878330"/>
                        <a:ext cx="5340350" cy="3970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90*285"/>
  <p:tag name="TABLE_ENDDRAG_RECT" val="71*145*790*285"/>
</p:tagLst>
</file>

<file path=ppt/tags/tag2.xml><?xml version="1.0" encoding="utf-8"?>
<p:tagLst xmlns:p="http://schemas.openxmlformats.org/presentationml/2006/main">
  <p:tag name="TABLE_ENDDRAG_ORIGIN_RECT" val="522*144"/>
  <p:tag name="TABLE_ENDDRAG_RECT" val="163*144*522*144"/>
</p:tagLst>
</file>

<file path=ppt/tags/tag3.xml><?xml version="1.0" encoding="utf-8"?>
<p:tagLst xmlns:p="http://schemas.openxmlformats.org/presentationml/2006/main">
  <p:tag name="TABLE_ENDDRAG_ORIGIN_RECT" val="522*116"/>
  <p:tag name="TABLE_ENDDRAG_RECT" val="163*322*522*116"/>
</p:tagLst>
</file>

<file path=ppt/tags/tag4.xml><?xml version="1.0" encoding="utf-8"?>
<p:tagLst xmlns:p="http://schemas.openxmlformats.org/presentationml/2006/main">
  <p:tag name="commondata" val="eyJoZGlkIjoiMThjMGE3YmNhOWIxMWJmZGJjYzNjMGU4NGQ0NTdlM2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WPS 演示</Application>
  <PresentationFormat>宽屏</PresentationFormat>
  <Paragraphs>106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25</vt:i4>
      </vt:variant>
      <vt:variant>
        <vt:lpstr>幻灯片标题</vt:lpstr>
      </vt:variant>
      <vt:variant>
        <vt:i4>18</vt:i4>
      </vt:variant>
    </vt:vector>
  </HeadingPairs>
  <TitlesOfParts>
    <vt:vector size="51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问题描述：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Neusoft</dc:creator>
  <cp:lastModifiedBy>Neusoft</cp:lastModifiedBy>
  <cp:revision>8</cp:revision>
  <dcterms:created xsi:type="dcterms:W3CDTF">2023-08-09T12:44:00Z</dcterms:created>
  <dcterms:modified xsi:type="dcterms:W3CDTF">2024-06-14T12:41:41Z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2052-12.1.0.16929</vt:lpwstr>
  </property>
</Properties>
</file>